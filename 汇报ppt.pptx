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26a78aa2d495d" /><Relationship Type="http://schemas.openxmlformats.org/officeDocument/2006/relationships/extended-properties" Target="/docProps/app.xml" Id="R1de8c23a35bb49fc" /><Relationship Type="http://schemas.openxmlformats.org/officeDocument/2006/relationships/officeDocument" Target="/ppt/presentation.xml" Id="Rb82dbedaa166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de4a925db4b97"/>
  </p:sldMasterIdLst>
  <p:notesMasterIdLst>
    <p:notesMasterId xmlns:r="http://schemas.openxmlformats.org/officeDocument/2006/relationships" r:id="Rcfe333f253934460"/>
  </p:notesMasterIdLst>
  <p:sldIdLst>
    <p:sldId xmlns:r="http://schemas.openxmlformats.org/officeDocument/2006/relationships" id="256" r:id="Rc672828909e34fc0"/>
    <p:sldId xmlns:r="http://schemas.openxmlformats.org/officeDocument/2006/relationships" id="257" r:id="Re8ecc672f4544b7f"/>
    <p:sldId xmlns:r="http://schemas.openxmlformats.org/officeDocument/2006/relationships" id="258" r:id="R4b424230cda14944"/>
    <p:sldId xmlns:r="http://schemas.openxmlformats.org/officeDocument/2006/relationships" id="259" r:id="R3cebc16bb50e40b5"/>
    <p:sldId xmlns:r="http://schemas.openxmlformats.org/officeDocument/2006/relationships" id="260" r:id="R34980fce30524224"/>
    <p:sldId xmlns:r="http://schemas.openxmlformats.org/officeDocument/2006/relationships" id="261" r:id="Re99fec9b383548de"/>
    <p:sldId xmlns:r="http://schemas.openxmlformats.org/officeDocument/2006/relationships" id="262" r:id="R2ac9db4f95fd4732"/>
    <p:sldId xmlns:r="http://schemas.openxmlformats.org/officeDocument/2006/relationships" id="263" r:id="R8b74a33448404bb6"/>
    <p:sldId xmlns:r="http://schemas.openxmlformats.org/officeDocument/2006/relationships" id="264" r:id="Rd57493ca99f24466"/>
    <p:sldId xmlns:r="http://schemas.openxmlformats.org/officeDocument/2006/relationships" id="265" r:id="R5e950a7bb4b64f34"/>
    <p:sldId xmlns:r="http://schemas.openxmlformats.org/officeDocument/2006/relationships" id="266" r:id="R753591ff995c4ef6"/>
    <p:sldId xmlns:r="http://schemas.openxmlformats.org/officeDocument/2006/relationships" id="267" r:id="Re4b29c0bb9f64d40"/>
    <p:sldId xmlns:r="http://schemas.openxmlformats.org/officeDocument/2006/relationships" id="268" r:id="R739d7ca575364687"/>
    <p:sldId xmlns:r="http://schemas.openxmlformats.org/officeDocument/2006/relationships" id="269" r:id="R06855b9eee9d4d21"/>
    <p:sldId xmlns:r="http://schemas.openxmlformats.org/officeDocument/2006/relationships" id="270" r:id="Re17b98a011a94f11"/>
    <p:sldId xmlns:r="http://schemas.openxmlformats.org/officeDocument/2006/relationships" id="271" r:id="R91cfee823bd5433b"/>
    <p:sldId xmlns:r="http://schemas.openxmlformats.org/officeDocument/2006/relationships" id="272" r:id="R5cab590506e54205"/>
    <p:sldId xmlns:r="http://schemas.openxmlformats.org/officeDocument/2006/relationships" id="273" r:id="R5d535c5c8ddf438c"/>
    <p:sldId xmlns:r="http://schemas.openxmlformats.org/officeDocument/2006/relationships" id="274" r:id="Rb2844f0f0bde408f"/>
    <p:sldId xmlns:r="http://schemas.openxmlformats.org/officeDocument/2006/relationships" id="275" r:id="Rc3bd16389a4848a7"/>
    <p:sldId xmlns:r="http://schemas.openxmlformats.org/officeDocument/2006/relationships" id="276" r:id="Rb879e613bef0475d"/>
    <p:sldId xmlns:r="http://schemas.openxmlformats.org/officeDocument/2006/relationships" id="277" r:id="R5577767838e8407c"/>
  </p:sldIdLst>
  <p:sldSz cx="1219136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1e0f12df04048" /><Relationship Type="http://schemas.openxmlformats.org/officeDocument/2006/relationships/slideMaster" Target="/ppt/slideMasters/slideMaster1.xml" Id="R299de4a925db4b97" /><Relationship Type="http://schemas.openxmlformats.org/officeDocument/2006/relationships/notesMaster" Target="/ppt/notesMasters/notesMaster1.xml" Id="Rcfe333f253934460" /><Relationship Type="http://schemas.openxmlformats.org/officeDocument/2006/relationships/presProps" Target="/ppt/presProps.xml" Id="R08bb9cccd01b4603" /><Relationship Type="http://schemas.openxmlformats.org/officeDocument/2006/relationships/viewProps" Target="/ppt/viewProps.xml" Id="R4a312cfcd6224dac" /><Relationship Type="http://schemas.openxmlformats.org/officeDocument/2006/relationships/tableStyles" Target="/ppt/tableStyles.xml" Id="R7668e149ff5946a8" /><Relationship Type="http://schemas.openxmlformats.org/officeDocument/2006/relationships/slide" Target="/ppt/slides/slide1.xml" Id="Rc672828909e34fc0" /><Relationship Type="http://schemas.openxmlformats.org/officeDocument/2006/relationships/slide" Target="/ppt/slides/slide2.xml" Id="Re8ecc672f4544b7f" /><Relationship Type="http://schemas.openxmlformats.org/officeDocument/2006/relationships/slide" Target="/ppt/slides/slide3.xml" Id="R4b424230cda14944" /><Relationship Type="http://schemas.openxmlformats.org/officeDocument/2006/relationships/slide" Target="/ppt/slides/slide4.xml" Id="R3cebc16bb50e40b5" /><Relationship Type="http://schemas.openxmlformats.org/officeDocument/2006/relationships/slide" Target="/ppt/slides/slide5.xml" Id="R34980fce30524224" /><Relationship Type="http://schemas.openxmlformats.org/officeDocument/2006/relationships/slide" Target="/ppt/slides/slide6.xml" Id="Re99fec9b383548de" /><Relationship Type="http://schemas.openxmlformats.org/officeDocument/2006/relationships/slide" Target="/ppt/slides/slide7.xml" Id="R2ac9db4f95fd4732" /><Relationship Type="http://schemas.openxmlformats.org/officeDocument/2006/relationships/slide" Target="/ppt/slides/slide8.xml" Id="R8b74a33448404bb6" /><Relationship Type="http://schemas.openxmlformats.org/officeDocument/2006/relationships/slide" Target="/ppt/slides/slide9.xml" Id="Rd57493ca99f24466" /><Relationship Type="http://schemas.openxmlformats.org/officeDocument/2006/relationships/slide" Target="/ppt/slides/slide10.xml" Id="R5e950a7bb4b64f34" /><Relationship Type="http://schemas.openxmlformats.org/officeDocument/2006/relationships/slide" Target="/ppt/slides/slide11.xml" Id="R753591ff995c4ef6" /><Relationship Type="http://schemas.openxmlformats.org/officeDocument/2006/relationships/slide" Target="/ppt/slides/slide12.xml" Id="Re4b29c0bb9f64d40" /><Relationship Type="http://schemas.openxmlformats.org/officeDocument/2006/relationships/slide" Target="/ppt/slides/slide13.xml" Id="R739d7ca575364687" /><Relationship Type="http://schemas.openxmlformats.org/officeDocument/2006/relationships/slide" Target="/ppt/slides/slide14.xml" Id="R06855b9eee9d4d21" /><Relationship Type="http://schemas.openxmlformats.org/officeDocument/2006/relationships/slide" Target="/ppt/slides/slide15.xml" Id="Re17b98a011a94f11" /><Relationship Type="http://schemas.openxmlformats.org/officeDocument/2006/relationships/slide" Target="/ppt/slides/slide16.xml" Id="R91cfee823bd5433b" /><Relationship Type="http://schemas.openxmlformats.org/officeDocument/2006/relationships/slide" Target="/ppt/slides/slide17.xml" Id="R5cab590506e54205" /><Relationship Type="http://schemas.openxmlformats.org/officeDocument/2006/relationships/slide" Target="/ppt/slides/slide18.xml" Id="R5d535c5c8ddf438c" /><Relationship Type="http://schemas.openxmlformats.org/officeDocument/2006/relationships/slide" Target="/ppt/slides/slide19.xml" Id="Rb2844f0f0bde408f" /><Relationship Type="http://schemas.openxmlformats.org/officeDocument/2006/relationships/slide" Target="/ppt/slides/slide20.xml" Id="Rc3bd16389a4848a7" /><Relationship Type="http://schemas.openxmlformats.org/officeDocument/2006/relationships/slide" Target="/ppt/slides/slide21.xml" Id="Rb879e613bef0475d" /><Relationship Type="http://schemas.openxmlformats.org/officeDocument/2006/relationships/slide" Target="/ppt/slides/slide22.xml" Id="R5577767838e8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370a5c6dd84d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19a531e244edb" /><Relationship Type="http://schemas.openxmlformats.org/officeDocument/2006/relationships/notesMaster" Target="/ppt/notesMasters/notesMaster1.xml" Id="Ra9c9d95b7e1b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9fe7f79ad491f" /><Relationship Type="http://schemas.openxmlformats.org/officeDocument/2006/relationships/notesMaster" Target="/ppt/notesMasters/notesMaster1.xml" Id="R79a7fe2fa408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08dbd8a554fba" /><Relationship Type="http://schemas.openxmlformats.org/officeDocument/2006/relationships/notesMaster" Target="/ppt/notesMasters/notesMaster1.xml" Id="Rb347b14447ad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012f5ccb6c4f07" /><Relationship Type="http://schemas.openxmlformats.org/officeDocument/2006/relationships/notesMaster" Target="/ppt/notesMasters/notesMaster1.xml" Id="Rdcb2cf204edb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350b5ff434610" /><Relationship Type="http://schemas.openxmlformats.org/officeDocument/2006/relationships/notesMaster" Target="/ppt/notesMasters/notesMaster1.xml" Id="Rffcc53a2ff74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2c19ba62148f3" /><Relationship Type="http://schemas.openxmlformats.org/officeDocument/2006/relationships/notesMaster" Target="/ppt/notesMasters/notesMaster1.xml" Id="Rc0061c1616144b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876de7ee447cf" /><Relationship Type="http://schemas.openxmlformats.org/officeDocument/2006/relationships/notesMaster" Target="/ppt/notesMasters/notesMaster1.xml" Id="R5f729eb1eeb649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3d931407b4bbe" /><Relationship Type="http://schemas.openxmlformats.org/officeDocument/2006/relationships/notesMaster" Target="/ppt/notesMasters/notesMaster1.xml" Id="Rfabad309c99f4f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cacdcd9a574037" /><Relationship Type="http://schemas.openxmlformats.org/officeDocument/2006/relationships/notesMaster" Target="/ppt/notesMasters/notesMaster1.xml" Id="Rf0494eda15b34f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e7a7127f054cae" /><Relationship Type="http://schemas.openxmlformats.org/officeDocument/2006/relationships/notesMaster" Target="/ppt/notesMasters/notesMaster1.xml" Id="R3cf018ef297e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c90c589c954860" /><Relationship Type="http://schemas.openxmlformats.org/officeDocument/2006/relationships/notesMaster" Target="/ppt/notesMasters/notesMaster1.xml" Id="R9c404cb47dce48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e42774d817475c" /><Relationship Type="http://schemas.openxmlformats.org/officeDocument/2006/relationships/notesMaster" Target="/ppt/notesMasters/notesMaster1.xml" Id="R24125f45b9214f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85985d4fce498b" /><Relationship Type="http://schemas.openxmlformats.org/officeDocument/2006/relationships/notesMaster" Target="/ppt/notesMasters/notesMaster1.xml" Id="R28a53efb083147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b4e09a8f8b4387" /><Relationship Type="http://schemas.openxmlformats.org/officeDocument/2006/relationships/notesMaster" Target="/ppt/notesMasters/notesMaster1.xml" Id="R39dd68bc650f40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83ee3a1d924430" /><Relationship Type="http://schemas.openxmlformats.org/officeDocument/2006/relationships/notesMaster" Target="/ppt/notesMasters/notesMaster1.xml" Id="R4978a7308e2e43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cb008de33444e9" /><Relationship Type="http://schemas.openxmlformats.org/officeDocument/2006/relationships/notesMaster" Target="/ppt/notesMasters/notesMaster1.xml" Id="Rf04c45d70a8e42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636b8eae834c9e" /><Relationship Type="http://schemas.openxmlformats.org/officeDocument/2006/relationships/notesMaster" Target="/ppt/notesMasters/notesMaster1.xml" Id="R8a982314d08c4e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1c39d6c2e64a19" /><Relationship Type="http://schemas.openxmlformats.org/officeDocument/2006/relationships/notesMaster" Target="/ppt/notesMasters/notesMaster1.xml" Id="Rb88a06150d8e49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4bec66311d4216" /><Relationship Type="http://schemas.openxmlformats.org/officeDocument/2006/relationships/notesMaster" Target="/ppt/notesMasters/notesMaster1.xml" Id="Rd984fc90ac6b4b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83e5e480564269" /><Relationship Type="http://schemas.openxmlformats.org/officeDocument/2006/relationships/notesMaster" Target="/ppt/notesMasters/notesMaster1.xml" Id="R7e731a68528249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8e220799b0427e" /><Relationship Type="http://schemas.openxmlformats.org/officeDocument/2006/relationships/notesMaster" Target="/ppt/notesMasters/notesMaster1.xml" Id="R4338a3fd37a444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7923ceec9245d2" /><Relationship Type="http://schemas.openxmlformats.org/officeDocument/2006/relationships/notesMaster" Target="/ppt/notesMasters/notesMaster1.xml" Id="R616b9f72a0a5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c1dd1e6b647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fc6f964d242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e69eb26c249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292103b6d4d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fdb3e610c41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cbf50b8514c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40fc0f2d146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ebec9867e45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02399cd6e46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8287071684ec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2a2799932458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AA4497-2426-42D5-8CF5-4A441B2C78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02E265E-B2D0-40DC-BB5D-6ABC5ED4F8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F406FD-B5DC-4B08-9CD4-55FA5BA24F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4F0B80-3EBB-443D-8353-89B7A0C7D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AFE1EA-2722-4E89-9001-89DBF02936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F092FA-2B36-4B36-937D-2681F3E306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3A9F9F-B1F3-4010-9310-535EED5438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2844DD-6AAC-4C05-8716-CF5355E7FF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9EE066-518C-4946-999A-994FFF9744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3E9BB2-5B63-4EAC-910F-BB8338547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2E9B22-C7E4-42B6-AE57-26658F395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58BFA7-2951-40A4-BFD0-A0BDA644D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285C03-1DAF-478A-AFF4-D8BB2A6B93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5A665A-9A39-41CE-A0E9-F9C63436C1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EED73A-B391-44F8-9EED-F886D1AAC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896D40-9857-4D89-BCF4-18F0A1818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36B19F-9348-43A7-B686-B945D7C3E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0E0B39-7613-434E-85F1-476C83832F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ED5D86-FDBF-473E-A50B-AEE7771EB7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BC303F-E264-495E-9F38-D443C52F07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B56E4A5-35C5-40A9-BCEF-B5725D078B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38FABF-5760-4F55-BB85-5715266F9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4B853C-CF80-47FB-AF41-4D185B3DA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7E44E7-C174-4994-BA98-4BEA91CE31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584A994-2D9B-4753-BB26-9C41F384374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B78E6F7-18BD-4BEB-A14D-A5684E3C516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B5DCF11-FCAF-4557-B1B4-15283DD0A4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753F83D-4DB5-4822-938D-4EC9435DE3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156BDB3-78B3-4758-84D5-AB7B43D27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5A8A62-3188-4A05-A23A-C08EE5916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7CEC0B4-13D4-40CF-86A6-50D8C71654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9A60B0B-E1EE-4F21-B76A-A7145EDBD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13E9773-DA07-40F0-8C43-813C49A5DC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20C69F-89C6-4676-AA7D-89C4965B86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41A2155-7DEF-4299-9F0E-9128E6DF52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9659EF5-283A-4D77-BEDC-F78CEF923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05187B-D7BE-4325-9576-5BD625293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360E6E-A4A4-4160-95B3-E69BDE4AD9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6B9576-9DAF-441B-AAAB-C9E2DEDA92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01EC55-C58D-42BA-9531-A6E51FDDEC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E9C7C4-3040-40E7-9CEC-118E208493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8CF96B-63DD-4685-8EA0-7ABC534A8D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7980E5-B121-4F5E-B397-57A2F5F29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B4FF04F-5415-45F2-906D-2C91FDDB30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8A0096-7635-4CEB-B1C3-DEF0AA895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E2C63A-449C-4A29-AA86-3C69A38BB7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E68C9A-BB2C-45D1-A799-506506DEEC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BF86F5-C769-4162-823E-6310351659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1A95B2-FE04-43FC-9356-087CE38CC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3B6883-2F51-4C3F-AD71-F330CCE7D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EF3E84-208E-440F-A858-A092C8E73E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38C556-861C-4A74-8F83-4C8B457F3D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7BE9C5-E39C-46A3-B829-2F1BA3AF92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20E04A4-138E-4D13-A5D5-889BA35A6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1D9715-84B3-4249-A978-AEC46D0F34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D3722-48A0-4A5B-A13B-A754563D3D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9C673A-1DE5-4BB4-91B1-65B63A29AB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980FEA-0CEE-4754-9D2D-61B0659F2F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ac9f5bf7f44eb5" /><Relationship Type="http://schemas.openxmlformats.org/officeDocument/2006/relationships/slideLayout" Target="/ppt/slideLayouts/slideLayout1.xml" Id="R3387ee57d4fe4393" /><Relationship Type="http://schemas.openxmlformats.org/officeDocument/2006/relationships/slideLayout" Target="/ppt/slideLayouts/slideLayout2.xml" Id="R25c58b9d8d344f28" /><Relationship Type="http://schemas.openxmlformats.org/officeDocument/2006/relationships/slideLayout" Target="/ppt/slideLayouts/slideLayout3.xml" Id="Rf0934b27f0c442d4" /><Relationship Type="http://schemas.openxmlformats.org/officeDocument/2006/relationships/slideLayout" Target="/ppt/slideLayouts/slideLayout4.xml" Id="R5103b30699164c0d" /><Relationship Type="http://schemas.openxmlformats.org/officeDocument/2006/relationships/slideLayout" Target="/ppt/slideLayouts/slideLayout5.xml" Id="Rbadef7384fab458f" /><Relationship Type="http://schemas.openxmlformats.org/officeDocument/2006/relationships/slideLayout" Target="/ppt/slideLayouts/slideLayout6.xml" Id="R1d789bb2850c41ca" /><Relationship Type="http://schemas.openxmlformats.org/officeDocument/2006/relationships/slideLayout" Target="/ppt/slideLayouts/slideLayout7.xml" Id="R836a5406f46c4570" /><Relationship Type="http://schemas.openxmlformats.org/officeDocument/2006/relationships/slideLayout" Target="/ppt/slideLayouts/slideLayout8.xml" Id="R0b355aced8d34416" /><Relationship Type="http://schemas.openxmlformats.org/officeDocument/2006/relationships/slideLayout" Target="/ppt/slideLayouts/slideLayout9.xml" Id="Rb5ca78e136a941eb" /><Relationship Type="http://schemas.openxmlformats.org/officeDocument/2006/relationships/slideLayout" Target="/ppt/slideLayouts/slideLayout10.xml" Id="Rbd1070a7e61c4f00" /><Relationship Type="http://schemas.openxmlformats.org/officeDocument/2006/relationships/slideLayout" Target="/ppt/slideLayouts/slideLayout11.xml" Id="Rc441f404e4d34c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6D18E8-180C-4CF9-95A5-BDC3754EC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80AD6A-3BE8-45F0-896A-37C1A2C4C6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BC3C34-C8EC-4358-BAC3-957A125DF0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F8B0DE-24D3-4DDB-BB09-E04EE6538E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3E0E3B-0A12-4A35-B61D-6552D1D39C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7ee57d4fe4393"/>
    <p:sldLayoutId xmlns:r="http://schemas.openxmlformats.org/officeDocument/2006/relationships" id="2147483650" r:id="R25c58b9d8d344f28"/>
    <p:sldLayoutId xmlns:r="http://schemas.openxmlformats.org/officeDocument/2006/relationships" id="2147483651" r:id="Rf0934b27f0c442d4"/>
    <p:sldLayoutId xmlns:r="http://schemas.openxmlformats.org/officeDocument/2006/relationships" id="2147483652" r:id="R5103b30699164c0d"/>
    <p:sldLayoutId xmlns:r="http://schemas.openxmlformats.org/officeDocument/2006/relationships" id="2147483653" r:id="Rbadef7384fab458f"/>
    <p:sldLayoutId xmlns:r="http://schemas.openxmlformats.org/officeDocument/2006/relationships" id="2147483654" r:id="R1d789bb2850c41ca"/>
    <p:sldLayoutId xmlns:r="http://schemas.openxmlformats.org/officeDocument/2006/relationships" id="2147483655" r:id="R836a5406f46c4570"/>
    <p:sldLayoutId xmlns:r="http://schemas.openxmlformats.org/officeDocument/2006/relationships" id="2147483656" r:id="R0b355aced8d34416"/>
    <p:sldLayoutId xmlns:r="http://schemas.openxmlformats.org/officeDocument/2006/relationships" id="2147483657" r:id="Rb5ca78e136a941eb"/>
    <p:sldLayoutId xmlns:r="http://schemas.openxmlformats.org/officeDocument/2006/relationships" id="2147483658" r:id="Rbd1070a7e61c4f00"/>
    <p:sldLayoutId xmlns:r="http://schemas.openxmlformats.org/officeDocument/2006/relationships" id="2147483659" r:id="Rc441f404e4d34c7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b7dca9aa3c4324" /><Relationship Type="http://schemas.openxmlformats.org/officeDocument/2006/relationships/notesSlide" Target="/ppt/notesSlides/notesSlide1.xml" Id="Rd29106ae24d84e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ad750c4baa4f78" /><Relationship Type="http://schemas.openxmlformats.org/officeDocument/2006/relationships/notesSlide" Target="/ppt/notesSlides/notesSlide2.xml" Id="R5acc5c77f6e5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545766cf2d4589" /><Relationship Type="http://schemas.openxmlformats.org/officeDocument/2006/relationships/notesSlide" Target="/ppt/notesSlides/notesSlide3.xml" Id="R82ff8106dc1c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e49537e9cd494d" /><Relationship Type="http://schemas.openxmlformats.org/officeDocument/2006/relationships/notesSlide" Target="/ppt/notesSlides/notesSlide4.xml" Id="Rf6b10b568ceb40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b40cb6c9a64ff5" /><Relationship Type="http://schemas.openxmlformats.org/officeDocument/2006/relationships/notesSlide" Target="/ppt/notesSlides/notesSlide5.xml" Id="Rf2196cff5664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83cd0baf7f40e8" /><Relationship Type="http://schemas.openxmlformats.org/officeDocument/2006/relationships/notesSlide" Target="/ppt/notesSlides/notesSlide6.xml" Id="Rf34e57b5f61440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6c5bde26bb494d" /><Relationship Type="http://schemas.openxmlformats.org/officeDocument/2006/relationships/notesSlide" Target="/ppt/notesSlides/notesSlide7.xml" Id="Rab92c08730eb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c3013f2ef2414e" /><Relationship Type="http://schemas.openxmlformats.org/officeDocument/2006/relationships/notesSlide" Target="/ppt/notesSlides/notesSlide8.xml" Id="R4fccdd4747d146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6e2fe403a04aaf" /><Relationship Type="http://schemas.openxmlformats.org/officeDocument/2006/relationships/notesSlide" Target="/ppt/notesSlides/notesSlide9.xml" Id="R9e769d0b1591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794ba4cb54729" /><Relationship Type="http://schemas.openxmlformats.org/officeDocument/2006/relationships/notesSlide" Target="/ppt/notesSlides/notesSlide10.xml" Id="Rd74f10a0dc7a4c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7e30bd711b461b" /><Relationship Type="http://schemas.openxmlformats.org/officeDocument/2006/relationships/notesSlide" Target="/ppt/notesSlides/notesSlide11.xml" Id="R200412f04801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9855c6250a4b53" /><Relationship Type="http://schemas.openxmlformats.org/officeDocument/2006/relationships/notesSlide" Target="/ppt/notesSlides/notesSlide12.xml" Id="R92f172692ff349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7da8866da141bc" /><Relationship Type="http://schemas.openxmlformats.org/officeDocument/2006/relationships/notesSlide" Target="/ppt/notesSlides/notesSlide13.xml" Id="R674cdd6850ba45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cfd157a99d4742" /><Relationship Type="http://schemas.openxmlformats.org/officeDocument/2006/relationships/notesSlide" Target="/ppt/notesSlides/notesSlide14.xml" Id="R83bb64f506cb4d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9bbceaad99499b" /><Relationship Type="http://schemas.openxmlformats.org/officeDocument/2006/relationships/notesSlide" Target="/ppt/notesSlides/notesSlide15.xml" Id="R981bfd983bd746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9ecdfba96848d8" /><Relationship Type="http://schemas.openxmlformats.org/officeDocument/2006/relationships/notesSlide" Target="/ppt/notesSlides/notesSlide16.xml" Id="Rd5ac1801c4f445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11c41bd05a4eed" /><Relationship Type="http://schemas.openxmlformats.org/officeDocument/2006/relationships/notesSlide" Target="/ppt/notesSlides/notesSlide17.xml" Id="Rf4c2d1c9e1064b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2ce4fbadc24ec0" /><Relationship Type="http://schemas.openxmlformats.org/officeDocument/2006/relationships/notesSlide" Target="/ppt/notesSlides/notesSlide18.xml" Id="R15911ee125a242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8dd52ce0594fd5" /><Relationship Type="http://schemas.openxmlformats.org/officeDocument/2006/relationships/notesSlide" Target="/ppt/notesSlides/notesSlide19.xml" Id="R4edc81a6aae94d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b46c88db346e6" /><Relationship Type="http://schemas.openxmlformats.org/officeDocument/2006/relationships/notesSlide" Target="/ppt/notesSlides/notesSlide20.xml" Id="Rc55fb9ce5b3a4a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2cbbfda684c1d" /><Relationship Type="http://schemas.openxmlformats.org/officeDocument/2006/relationships/notesSlide" Target="/ppt/notesSlides/notesSlide21.xml" Id="R70f868b5876b4f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8e00b487f74b5b" /><Relationship Type="http://schemas.openxmlformats.org/officeDocument/2006/relationships/notesSlide" Target="/ppt/notesSlides/notesSlide22.xml" Id="Rbdf99f832c57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1D4FC0-4FE9-4D9A-BAD3-CF4E334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3D0AF5-A299-4122-86F0-E7BB6214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暨南大学 2023 级实训   ·   基于 Python 的 AI 应用开发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023AB8-30C7-4C6E-9985-E6571A3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19"/>
            <a:ext cx="107899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52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东软智慧商务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5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AI 助手平台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58E5F0-15C3-431C-BC2F-53B76F12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项目汇报  ·  功能说明与技术实现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1DAB917-AA72-4342-9C1C-8F5341B0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92811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002E53-C13E-4CDE-8C83-5DA14C0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17136"/>
            <a:ext cx="9281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C7B32B9-DD91-45AA-9141-6E675E13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36" y="4480560"/>
            <a:ext cx="117500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6753E6-A248-4696-96FE-A1FFFDA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36" y="4517136"/>
            <a:ext cx="11750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FastAPI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D84CE26-3DCA-4849-8DED-B8DED9F2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80560"/>
            <a:ext cx="142189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9DD277B-E852-48E9-81E9-725FC0C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7136"/>
            <a:ext cx="14218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LangChain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88D8660-F680-477C-84FA-CD44EE8A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4480560"/>
            <a:ext cx="142189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67E4BC-D124-4E1F-9DF7-D7A8E34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4517136"/>
            <a:ext cx="14218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LangGraph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F95ECCB-1450-4326-AB43-571E4A05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480560"/>
            <a:ext cx="92811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0029F32-FE66-4635-B91C-6921AA6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517136"/>
            <a:ext cx="9281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FAISS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102FC6F-0706-49AE-9D90-198ACE4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4480560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6AE7FF1-8B8E-4B2D-A700-7E5069A6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4517136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Dify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8C9DD7A-53A3-42D2-B093-B78572E6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612" y="4480560"/>
            <a:ext cx="10515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FB9EA30-63D2-420C-889F-1ACB8A11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612" y="4517136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Docker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F119F2A-B70A-48CC-B023-C0724959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2BCCA1E-4C6F-4BB9-A4E7-414F9111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436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汇报人：________      日期：2026.07</a:t>
            </a:r>
          </a:p>
        </p:txBody>
      </p:sp>
    </p:spTree>
    <p:extLst>
      <p:ext uri="{BB962C8B-B14F-4D97-AF65-F5344CB8AC3E}">
        <p14:creationId xmlns:p14="http://schemas.microsoft.com/office/powerpoint/2010/main" val="1574490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8AF0AC7-15BE-4C1B-B375-CD4CA8F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56EEE4-6A53-41F9-9FF9-BBC4732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9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3066EC-9436-4294-BAC6-5477E09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3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8FA5168-FAB7-42BF-B54E-9C78A724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9312"/>
            <a:ext cx="1097280" cy="731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98165B-A47E-43D0-AE77-AC54702C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0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实训教学目标 · 项目定位 · 教学日历纵览</a:t>
            </a:r>
          </a:p>
        </p:txBody>
      </p:sp>
    </p:spTree>
    <p:extLst>
      <p:ext uri="{BB962C8B-B14F-4D97-AF65-F5344CB8AC3E}">
        <p14:creationId xmlns:p14="http://schemas.microsoft.com/office/powerpoint/2010/main" val="2108713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82E64F-C055-4319-9EC3-0F22E85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01 / 项目背景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A65F8E-86BD-4797-B6D4-7B77AE97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项目缘起与定位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A000EB5-54B2-4E78-AD5D-A1175B58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43596-0D8C-4EA0-B60C-49EC23AB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传统商务服务的痛点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7845D32-9041-4086-9940-66E8AB0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39496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A0ACFE2F-2E02-4B0B-B4C8-D1AFF24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396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ED7565-3780-438F-8E53-DD7DABE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066544"/>
            <a:ext cx="4828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表单与人工依赖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1BCDCD6-4B38-4FBE-865C-A1CA521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87168"/>
            <a:ext cx="497433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高度依赖表单提交、人工查找制度文档与重复答复，客户等待时间长，客服难以保持口径一致。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E59A274-A57B-44FA-B038-921752EB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539496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4E29723-16C0-4181-A3F1-26F3624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6484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A73D54-082D-4CE7-A5B3-9CC80942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75304"/>
            <a:ext cx="4828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管理者盲区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77EEA1-12A3-4C02-882D-E459640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95928"/>
            <a:ext cx="497433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管理者难以从海量咨询记录中快速发现高频问题与服务质量风险。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87BE0F4-009F-40F7-935F-0AA54C5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平台定位与目标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6129459-3269-402A-9265-BDE2371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534924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082F4B3-FE63-4E09-B979-0E98726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1396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5D3499-96B7-44EF-A800-C248CC97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66544"/>
            <a:ext cx="47823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统一智能入口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9DE7AB8-F07F-4B71-9BE9-A236028B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487168"/>
            <a:ext cx="492861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企业用户进入 AI 智能对话助手；客服进入智能客服辅助；管理员进入系统管理；决策者进入经营大屏。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563C246-C5A3-434F-AB86-7847C1CE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29000"/>
            <a:ext cx="534924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BC5B1F0-0DB2-4C5F-B3D3-17E4A6B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484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7D9C7AE-E7F2-4548-AD15-C611A06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575304"/>
            <a:ext cx="47823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可验证的全栈链路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5C94BE2-6054-4C5D-B8A0-53BFAD8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3995928"/>
            <a:ext cx="492861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一条可运行、可讲解、可验证的全栈 AI 应用链路：Vue3 交互 + FastAPI 编排 + 本地 RAG/Agent。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1756A85-FF6A-47D4-8968-19C4794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1110996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D4515C6-6652-4302-BEF6-1EEEF9A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06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四类用户角色 · 一个对应主入口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FCCEB5F-A96C-4AFC-B463-300E7368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EBFF99F-4842-4002-B86A-E67C97C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8696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企业用户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B12716D-F5D0-4E05-A3DC-559760D3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32120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CE22978-8085-4786-8C9E-2A366CC1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68696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客服人员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1973CC4-DA04-409F-AD77-9666BC52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532120"/>
            <a:ext cx="92811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D84254A-88A5-4E4B-873B-737DD0FA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568696"/>
            <a:ext cx="9281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系统管理员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FE8D610-8539-4BDC-9F8A-65EBBB2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32120"/>
            <a:ext cx="68122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2B36369-8746-4A81-A0C4-5357E640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8696"/>
            <a:ext cx="6812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决策者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7465F78-4B79-42BB-8731-02C4810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8E2726D-86F0-4D5F-8348-1A191B3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7009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EC4B0F6-EA43-4F94-9234-DC0DCEA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01 / 项目背景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ECEF79B-BD1D-4B4B-A176-DDA3939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实训教学目标与技术主线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1CBF783-2420-4309-BFB8-60F5DD9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3B48D3-4851-4F75-A2F3-665989F4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主线：以 Python 全栈为底座，串起从大模型调用到云上运维的完整 AI 应用开发链路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0FB806E-C120-4DFD-946D-8F1AA6B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179222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7B0959-26D0-4CFE-BB91-99E3508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93976"/>
            <a:ext cx="1792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Vue3+FastAPI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78D2C1-FB51-4737-8DC4-6709FDEC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2057400"/>
            <a:ext cx="117500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68A0ED-0FFA-4486-BBBB-CC9E1EC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2093976"/>
            <a:ext cx="11750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大模型 API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BF4B7AA-A913-47BD-B984-58DC0BE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2057400"/>
            <a:ext cx="928116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DCB86B9-5B5C-4088-A981-D52CD2D2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2093976"/>
            <a:ext cx="9281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提示词工程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0015D73-B81F-475F-A7CE-D5B0E50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057400"/>
            <a:ext cx="1421892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6CB0F2-D8DE-4AD9-A609-744EF01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093976"/>
            <a:ext cx="14218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LangChain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1A0D897-9362-453B-A9D5-1124FC9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421892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0D1DB1-11E6-4CDC-A981-1BC5B3B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34056"/>
            <a:ext cx="14218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LangGraph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67997D6-EF72-47AD-B3BC-06948E0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412" y="2697480"/>
            <a:ext cx="804672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4C06BD0-C28C-4478-A398-2C1D933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412" y="2734056"/>
            <a:ext cx="8046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Dify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C1ACFF-8C03-4890-9091-FD471DF5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697480"/>
            <a:ext cx="804672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42ADADF-C1A6-419B-9C25-776A302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734056"/>
            <a:ext cx="8046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全栈集成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5CFB43C-ED85-4958-8123-D240383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516" y="2697480"/>
            <a:ext cx="681228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17E2D4C-AD38-43BC-9742-809F2B65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516" y="2734056"/>
            <a:ext cx="6812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云部署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38CEFB-4C76-4173-A2A5-452C91D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八大能力目标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0DD5129-F164-4893-978F-22C6BA5B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376391F-6149-4584-99BD-8B6BB2B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3A3D4CF-7E4A-467E-87EF-B386D90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98678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60E6EB9-B6DA-4FEB-9D7E-3EB9A78A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0740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用户访谈 / 场景分析 / 规范需求文档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3F50067-8D61-4055-AE29-EE197FB3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4048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80BCEA5F-B865-490E-8DAB-5834553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059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98F1FC-4759-42F7-90DD-0D5A0C8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98678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Vue3 前端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5DB01FF-7C6F-42A4-9479-3E7AD61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40740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组件化、路由、Pinia、Axios 接口调用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872CD66-C308-450D-B1CB-AB95CA2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4048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A18C27CB-4454-45F2-B4BD-3BD99C18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59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709292-E6C3-43F0-89CA-6FDB946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98678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93B24B3-8892-4395-B52F-5C46B25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740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RESTful、SQLAlchemy、依赖注入、流式响应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CEFB7466-B866-42E7-8343-B85A8D1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84048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3C15D81-A833-4643-9E66-93F2284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059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59D1795-E480-4C0B-9EAA-2F65AF40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8678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大模型与提示词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BF296BE-5ED2-4C13-ACC4-8CBEC95E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0740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OpenAI 协议、流式输出、角色/任务/格式/约束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BA91706-976D-4178-AEDB-AB1C6DFC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183647E-36EF-4E12-87CC-FF04079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48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8EE43AA-BFC3-4365-94E4-D26774F6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175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LangChain + RAG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122CB91-556F-41CA-B422-CC7006DD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96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LCEL 编排、文档分块、FAISS 检索增强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88CD46CC-4F3F-49D6-A840-4E208CA1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029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E7E191BD-5E5B-41E2-A0CC-FF14A46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248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BBF6B00-1B05-48F4-AF53-5FCF4F4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5175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LangGraph 智能体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2B70E48-95D2-4189-AA02-C80DC9B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596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StateGraph、条件路由、Function Calling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1963B26-A6C1-41DD-8C6A-35D0C95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5029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C5605499-52E3-448E-9FAF-6730BE42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248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BAFC1E7-D32C-4938-BB39-FF1DA405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175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Dify 低代码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D0F0FB4-1815-4290-9A56-9650525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6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知识库、工作流、TTS / 文生图应用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4723B0CC-5618-4B09-B646-F4B8677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5029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A06539DD-5068-4164-AE74-D0AB61DE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5248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A40D4C4-322B-4DA1-B75D-CB5479AB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175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全栈部署 DevOps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B4829092-E8B7-4FD5-ADE9-CB6FE3DE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596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Docker / Compose / K8s / CI-CD 流水线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10BEAD5-150B-465C-8D9A-4AE9949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9928335-2AD8-4434-84C0-670F1DC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1164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03EAEED3-7FA1-482C-A963-39B3DCC2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814501-656E-407D-9D37-3DB813B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9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189C6F-4FE9-4D03-B1C7-5A3A3424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3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整体架构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ADC81F2-777D-4BFE-977C-5FDB9848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9312"/>
            <a:ext cx="1097280" cy="731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D6407B-9667-4380-A863-3036671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0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技术栈 · 分层架构 · AI 请求数据流</a:t>
            </a:r>
          </a:p>
        </p:txBody>
      </p:sp>
    </p:spTree>
    <p:extLst>
      <p:ext uri="{BB962C8B-B14F-4D97-AF65-F5344CB8AC3E}">
        <p14:creationId xmlns:p14="http://schemas.microsoft.com/office/powerpoint/2010/main" val="796485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0C3432-F6C1-4CEF-B982-1FC67D6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02 / 整体架构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EB2956-D787-4600-9B1F-D3722C1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系统分层架构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A8DC979-B0EC-4193-B7F8-3609056E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8E5B9A8-B838-4A96-9129-EC434BF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9B24A30-35F3-4E30-8404-3553FC99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554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CDD6C8-E3BB-487B-8BF4-2F8DD732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5544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81FA085-4E99-469C-9DCA-C4B58D0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783080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B31C73-DF1E-447B-922F-A38D3726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819656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企业用户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39764D2-D0CB-49C1-9724-57B3349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1783080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79260F-7DB4-4025-BA42-689BA4F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1819656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客服人员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C75F11C-E7C4-4664-8D12-F8428628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783080"/>
            <a:ext cx="92811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74CBB4-928E-4BF9-899B-3B536FE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819656"/>
            <a:ext cx="9281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系统管理员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1D4AFB-3EC6-4523-B18E-23B76FD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412" y="1783080"/>
            <a:ext cx="68122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D62F86-7BD2-4E43-9932-E8C9FDB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412" y="1819656"/>
            <a:ext cx="6812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决策者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4D41231-6C41-40A5-951D-9CB1C5F2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74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F525897-7634-45DD-9798-B425427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42032"/>
            <a:ext cx="1051560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8D3227A-53AA-4114-96DB-F80CDBB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42032"/>
            <a:ext cx="1554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797B64-6DAD-4209-BD16-43CB4A0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42032"/>
            <a:ext cx="15544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A892CCE-A317-495F-9D40-7633521B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770632"/>
            <a:ext cx="240944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84A292-4572-49AF-A904-E3CC905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807208"/>
            <a:ext cx="24094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Vue 3 + Vite 单页应用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2F2D208-7DA6-4A95-9453-C2B3C56F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6499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B52F037-24A1-446F-AC5E-D26FE8C6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1051560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F55529C-C423-40BB-9996-9A0002F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1554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0EF4A8B-65D6-4771-AE99-A88FC6A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15544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F7EEA282-AE2B-46F3-891E-36FB24D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758184"/>
            <a:ext cx="166878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4A7B5E9-F33E-4111-B154-AF4F5B4C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794760"/>
            <a:ext cx="16687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FastAPI API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163F32E-4E5A-44DC-84A1-6766A768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124" y="3758184"/>
            <a:ext cx="80467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2F383AE-0A86-4EDB-9730-99789D7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124" y="3794760"/>
            <a:ext cx="8046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认证授权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07FB23D-A206-437E-8854-D993782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8184"/>
            <a:ext cx="68122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F65DBBF-3BF9-4CEF-886D-12283D8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94760"/>
            <a:ext cx="6812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知识库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ECB1598-976B-4FEE-BC37-DB560F36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58184"/>
            <a:ext cx="55778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C58B46-B956-4BB3-8841-AA874AF1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94760"/>
            <a:ext cx="5577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工单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8F549B41-A856-407D-9EA6-0A8047C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58184"/>
            <a:ext cx="55778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88942A3-F53A-4281-852F-6782024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94760"/>
            <a:ext cx="5577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79B2C59A-3B7E-45F6-9430-6B56F150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758184"/>
            <a:ext cx="55778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72AD57E-0532-446E-8169-ED58435D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794760"/>
            <a:ext cx="5577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看板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FFBA4370-9FA5-44F7-BE2E-05FE6E7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58184"/>
            <a:ext cx="92811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751DEF-DC6A-41C2-B8D5-66F01494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94760"/>
            <a:ext cx="9281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偏好·缓存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771EC0-C330-49AB-BD8C-44C9579A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5254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5692116-F273-4A9A-B5A2-D66A63FB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17136"/>
            <a:ext cx="1051560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57833436-E962-49EF-A1CD-B21521F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17136"/>
            <a:ext cx="1554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70E5B2C-9C9E-4849-987B-0C5F1ED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17136"/>
            <a:ext cx="15544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层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12B71651-8586-4046-BFE1-07721ADA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745736"/>
            <a:ext cx="17922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168984D2-7EFC-4E60-A6E5-C461D8B3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782312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LangGraph 编排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1ED77FD0-DFCE-437F-A193-46429468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745736"/>
            <a:ext cx="142189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783D9B7-78F3-42CB-B57B-9785500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782312"/>
            <a:ext cx="14218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RAG 向量+稀疏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15000209-5C74-4FF7-8CF3-6DDDC36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64" y="4745736"/>
            <a:ext cx="10515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497B4609-31D3-4FE8-90DD-EDEC5CB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64" y="4782312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工具(只读)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7581D415-5CF4-4C7A-80E7-A1FFD22E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628" y="4745736"/>
            <a:ext cx="55778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4A89D726-477B-4342-ACAF-9A1A9D4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628" y="4782312"/>
            <a:ext cx="5577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质检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26F99A8C-9284-4A76-99D3-66995D38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716" y="4745736"/>
            <a:ext cx="12984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85F5CD3-DFA7-42A6-A483-4EB0303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716" y="4782312"/>
            <a:ext cx="12984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Dify(可选)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FD92271-8970-4DD8-99C4-1859F8C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4009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F519E146-0E75-4333-832D-9A6B5A8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04688"/>
            <a:ext cx="1051560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FF152CF7-0848-45FF-9E4E-F7CF9966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04688"/>
            <a:ext cx="1554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618D226B-CFF9-492F-9532-90675DC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04688"/>
            <a:ext cx="15544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4C10A398-77A6-42BC-850E-BD27D6B4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733288"/>
            <a:ext cx="154533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DA5865F-D3EB-4BA7-B4F1-49F5419F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769864"/>
            <a:ext cx="15453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SQLite 演示库</a:t>
            </a: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E355317D-74E2-47B3-AE06-35032D6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733288"/>
            <a:ext cx="17922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8BD8EF5E-1345-4087-99E4-7ACE137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769864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Redis / 内存回退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DF47AAC-6128-41C3-833A-3D161065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原则：离线优先 · 接口稳定 · 证据可见 · 人工兜底 · 渐进演进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603D332C-DF19-4FEE-AE71-CC52B1B7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4EDB2F5-F968-4BC0-AE4F-A9F8B11D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0272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5356E0-0671-44B3-BB15-829C2576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02 / 整体架构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996A422-D3A2-4396-BCA6-E5250B9F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请求数据流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65D2095-DFE2-4F2D-8893-616AF755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E82EB63-7261-4474-B574-F1C0951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1175004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A816F2-BEB1-49A9-8231-418CB5B7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22576"/>
            <a:ext cx="1175004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前端 Vue3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3E6262-9810-41FB-B486-DF03D659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252" y="2286000"/>
            <a:ext cx="365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DFE6490-884D-42C9-AECA-9C9DFD56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12" y="2286000"/>
            <a:ext cx="1545336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8B7BCE-1366-40F6-97BF-A63664BB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12" y="2322576"/>
            <a:ext cx="15453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FastAPI 接收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A4EE8D-2E6A-4E0E-8C4F-EB1B60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36" y="2286000"/>
            <a:ext cx="365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3561E5C-C563-414C-A9BE-FC0D3E9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2286000"/>
            <a:ext cx="1051560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56A48E-1796-4F66-AA0B-591929B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2322576"/>
            <a:ext cx="105156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AI 编排器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A89911E-4B6E-4AB9-AF2A-296B8F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2286000"/>
            <a:ext cx="365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97EFF2E-00C3-4F01-BD75-79B59418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04" y="2286000"/>
            <a:ext cx="1668780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D31B3DF-8A3E-4EE4-8A05-999F3EE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04" y="2322576"/>
            <a:ext cx="166878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分类 ∥ 检索(并行)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98BEB9-C9AC-4B11-9FF4-F67D2D83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718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658ED36-B860-4B22-84D6-8E0ED8D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1175004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E4B9EF-19B7-48DC-B1C5-C583B659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19856"/>
            <a:ext cx="1175004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工具 / 质检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E03551-36A6-4E27-B6CA-BD3F1CF6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252" y="3383280"/>
            <a:ext cx="365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5E640CB-A3C8-4D71-BA2C-B1274B8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12" y="3383280"/>
            <a:ext cx="1421892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A06F90F-6112-40CC-9808-25C8923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12" y="3419856"/>
            <a:ext cx="142189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模型 / 本地回退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C0E4E1-AFA5-45F0-8BAF-1586D288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383280"/>
            <a:ext cx="365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B0DD053-A471-4734-8735-F0372533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3383280"/>
            <a:ext cx="1668780" cy="502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478DE82-E295-4B90-B156-B51C728D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3419856"/>
            <a:ext cx="166878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引用·轨迹·降级 返回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3108395-3AA2-4142-8D80-E3ED703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106070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关键时序与保障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首个模型 Token 在模型完成与助手消息落库之前到达客户端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回答同时回传知识引用 citations、Agent 轨迹 trace 与降级标记 used_fallback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客户端取消 → 关闭上游流并回滚未完成会话；异常以 fallback / reset 保证一致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Dify 未配置 / 超时 / 失败时，回退本地 RAG·Agent 并返回真实证据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8CFAD50-C483-4AD8-BA60-9D82A38D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6DCFAA6-11DB-4E08-9ECA-7446976E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692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8396949A-07FD-48EE-A632-8BA816C3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0E0EBF-DC95-4267-89D1-9559460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9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341D73-C875-4C70-85CA-8368455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3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822783E-336E-44E5-A70A-5AAF0449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9312"/>
            <a:ext cx="1097280" cy="731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964BB4-5BF4-436F-BEDE-D033F276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0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智能对话 / 知识库 / 工单 / 满意度闭环 / 文生图 / 管理看板</a:t>
            </a:r>
          </a:p>
        </p:txBody>
      </p:sp>
    </p:spTree>
    <p:extLst>
      <p:ext uri="{BB962C8B-B14F-4D97-AF65-F5344CB8AC3E}">
        <p14:creationId xmlns:p14="http://schemas.microsoft.com/office/powerpoint/2010/main" val="1945889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465052-8A0E-4BA2-B67F-9739ED6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0CC375-5E2E-4518-9B02-8AD937EF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功能总览：四类角色 · 六大模块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3AD302B-2A89-4F92-949B-2EBA825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6BF4126-ADAD-489A-AF9F-3EB54CAF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C8EC7AA-1A85-4613-A9EE-BB5BDE8B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1A0DD7E-2F5E-45A7-A74B-514E5B1A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企业用户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825240-F308-4283-8B71-D01598A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多轮问答 · 知识检索 · 提交工单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4E01D3-F7BE-4066-81A9-EFA65A63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600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46C1305-2AB8-41CD-A850-3B45091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11EF12-32C1-4E23-B13C-D528ACB3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746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客服人员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0FA5F0-574D-4DA9-A0AE-E0322C41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67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AI 推荐回复 · 人工确认 · 实时工单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7DDD861-0D87-40DE-A7DC-93C7E15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600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D9AAB883-5BA0-4F85-97E1-C42578B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59B6F0C-DCAD-4001-A36A-C8FEC75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46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系统管理员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2B70ACE-37C0-4521-B79A-EEA7CF0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7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用户 · 知识库 · AI 配置 · 审计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60D685C-0D26-4E90-9480-FBE74D0E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600200"/>
            <a:ext cx="2697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C9A0735-4F97-443B-83BF-7606778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A9371E1-94AB-4B74-A7FC-0E70739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46504"/>
            <a:ext cx="21305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决策者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BC91AC-D245-424D-997B-F1F073F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167128"/>
            <a:ext cx="22768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运营看板 · 分析报告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BC6718-C294-4409-8832-60A0D77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六大功能模块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9C52D67-6AC3-4EC9-9732-3861EE5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91BE4A-FD8A-4E34-ABD8-53ECB82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智能对话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B696A4F-AF38-4EA9-A75D-0F69B37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2044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6052C11-0ACB-43F5-BD86-948CCA31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2044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02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企业知识库问答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E480EBB-C7C8-48C8-8E83-774A2D7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EA2A52D-2E75-42A1-8DA1-598CF5E4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52044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智能客服工单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430891A5-B047-42EB-B5C4-64DF479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EB50036-D597-4FA3-8E39-B3827AB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多智能体编排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8E200A23-D557-4348-A9F9-7584F8C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52628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2878B10-528E-4254-81F1-81B244D2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52628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05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Dify 低代码集成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F5B54F4-E0CD-4104-A207-4BA5AA5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26280"/>
            <a:ext cx="352044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DADCE7D-59BF-4D59-9009-203DA2A5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26280"/>
            <a:ext cx="315468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06  </a:t>
            </a: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运营看板 &amp; 语音/偏好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CB710E3-5A82-463C-A20B-E8B95F97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66A8B31-1449-4439-9F44-83AB929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7054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ED28F2-F1CD-447B-9DA5-BBDC4C7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0CC35F-B015-4970-93A0-7439FD4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功能一 · AI 智能对话（原生流式）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07B9494-7951-47A3-9F34-D9814C66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770D2A0-2336-40F3-AE7E-E57858B0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41605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4FC8E-CC77-4AE1-B0C1-DA241188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73352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000" b="1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llm.py · 原生 SSE 流式转发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699833-EEF4-4204-B76B-64D706D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29968"/>
            <a:ext cx="6345936" cy="3593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llm.py · OpenAICompatibleClient.stream_complete（节选）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stream_complete(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system_prompt, user_prompt, *, history=(),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          tools=(), tool_results=(), model=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settings.llm_api_key:              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无密钥 -&gt; 本地回退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yield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LLMStreamCompleted(Completion(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text=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used_fallback=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reason=</a:t>
            </a:r>
            <a:r>
              <a:rPr sz="115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"未配置 LLM_API_KEY"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))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payload =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._request_payload(..., stream=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显式 stream=true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client.stream(</a:t>
            </a:r>
            <a:r>
              <a:rPr sz="115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"POST"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endpoint,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             headers={...}, json=payload)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response: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raw_line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response.aiter_lines():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events, finished = parse_data(...) 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解析 SSE delta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event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events: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yield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event                    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即时转发 token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yield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LLMStreamCompleted(Completion(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text=</a:t>
            </a:r>
            <a:r>
              <a:rPr sz="115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.join(text_parts), used_fallback=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...))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ED3E8E-EF04-4771-BD31-E4FA9670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54480"/>
            <a:ext cx="4114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显式 stream=true 调用 OpenAI-compatible 接口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逐行解析提供方 SSE，原样转发 delta（不切片、不延时伪装）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首个 token 先于模型完成与助手消息落库到达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客户端取消 → 关闭上游流并回滚未完成会话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异常一致：首 token 前 fallback；部分 token 后 reset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· 会话结束后提交 1-5 分、是否有帮助与文字意见，写入真实满意度统计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CF1E33-FBEC-4749-B113-8983A24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5960"/>
            <a:ext cx="41605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显式 stream=true 调用 OpenAI-compatible 接口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逐行解析提供方 SSE，原样转发 delta（不切片、不延时伪装）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首个 token 先于模型完成与助手消息落库到达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客户端取消 → 关闭上游流并回滚未完成会话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异常一致：首 token 前 fallback；部分 token 后 reset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返回 used_fallback 标记，决策过程可解释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E171CD-B2B8-4E4F-AA2C-AC87FE8B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E8CD5D-DB8B-4509-B628-FB7C7F7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3944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388A795-B1B9-4A78-B7A0-FEF249A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DEE2FA-DAEE-4B7A-BD4D-05BE144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功能二 · 企业知识库问答（混合 RAG）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D656192-5E94-48A8-AA6D-EE8D90E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7B4D30-03AA-4FA1-9C75-DD6DB8F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400800" cy="2697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AF151C-5537-4CB7-AC60-C9BA0767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73352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000" b="1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knowledge.py · 加权 RRF 融合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BB730DC-C39B-4256-B8AB-218C909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29968"/>
            <a:ext cx="5980176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混合检索：语义向量 + 精确关键词 -&gt; 加权 RRF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_hybrid_retrieve(db, query, top_k):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vector_hits  = _faiss_retrieve(db, query, candidate_k)   </a:t>
            </a:r>
            <a:r>
              <a:rPr sz="11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语义向量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keyword_hits = _sparse_fallback(db, query, candidate_k)  </a:t>
            </a:r>
            <a:r>
              <a:rPr sz="11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精确关键词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vector_hits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keyword_hits[:top_k]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fused_scores: dict[int, float] = {}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weight, hits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((</a:t>
            </a:r>
            <a:r>
              <a:rPr sz="11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0.65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vector_hits), (</a:t>
            </a:r>
            <a:r>
              <a:rPr sz="11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0.35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keyword_hits)):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rank, hit </a:t>
            </a: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enumerate(hits, start=</a:t>
            </a:r>
            <a:r>
              <a:rPr sz="11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contribution = weight / (</a:t>
            </a:r>
            <a:r>
              <a:rPr sz="11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60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+ rank)        </a:t>
            </a:r>
            <a:r>
              <a:rPr sz="11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加权倒数排名融合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fused_scores[hit.document_id] = (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fused_scores.get(hit.document_id, </a:t>
            </a:r>
            <a:r>
              <a:rPr sz="11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0.0</a:t>
            </a: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+ contribution)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9748F16-0C1B-409A-8F14-C5CADB7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6400800" cy="16687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A9B9E8-024D-4642-9C67-3251CDC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07992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000" b="1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knowledge.py · 确定性 Embedding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6D7531C-0CD5-4525-86BD-C07A4C19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64608"/>
            <a:ext cx="5980176" cy="971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确定性本地 Embedding（不向外传输文本）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def _hash_embedding(text, dimensions=192):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vector = [0.0] * dimensions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vector = hash_tokens(text, vector)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normalize(vector)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B8E756-5965-4DF8-9055-FA436AA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55448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实现要点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DC026D-E2B1-4DE2-8FFE-BFC884C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65960"/>
            <a:ext cx="44805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语义向量（FAISS）+ 精确关键词双路召回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加权倒数排名融合：向量 0.65 / 关键词 0.35，RRF_K=60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不比较异构原始分数，排序可离线复现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确定性 Embedding 不向外传输文本，留单一替换点给托管模型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返回 citations（标题 / 片段 / 融合分数），回答可溯源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支持多格式上传、分块配置、重建索引与检索测试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4680D2-AA73-4507-8EF8-92B1F4B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46F41D-183E-4BD7-9475-048007F4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9334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2022177-5468-43F6-8C4A-040C362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095F79-91BD-4169-BE62-8DC4838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功能三 · 智能客服辅助与实时会话队列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4E8327-FF75-4B03-B59A-13F34C05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B54D333-A61A-4AEB-BFCB-618D5DD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2044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4E8A1A0-A1FA-4BB3-974F-F36A35AB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6D4CAB-E4D5-4FC8-8B60-9190A66E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自动分类与建议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A59FF7F-7CCD-42B6-9ED4-804E6953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3099816" cy="7991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企业用户提交工单后，客服辅助 AI 自动分类、推荐模板与知识库依据，客服人工确认后发送。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同一客服可在长列表中并行处理多个用户会话。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A5702FE-6C79-4957-984F-9A32584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52044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6FD949-7D39-4A60-B7C2-2A870F8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57174D-53AA-4312-8C1E-6C00E6AF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草稿与人工确认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918839-F6FE-4851-AFAB-23819DE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67128"/>
            <a:ext cx="3099816" cy="9989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经营管理者可强制接管会话并通知指定客服；客服端只接收通知，已解决工单不进入待处理列表。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客服可分配、回复、结束会话，全部工单保留历史记录。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8C79B08-9941-462F-BE24-BD0AB956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00200"/>
            <a:ext cx="370332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91040F7-E559-425E-A1F7-A433507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1DDE3C-E6A9-47CC-A79E-7B2C8864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174650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受保护 SSE 实时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46AD5F-6631-4817-9934-B8FBA83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2167128"/>
            <a:ext cx="32826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队列按用户、会话状态、未读数、优先级、关联工单与最近消息排序，客服无需复用企业用户单一聊天弹窗。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A036205-7882-48AA-BF02-24583F6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352044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5365178-3C22-436C-BBEA-AA4D8504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6557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9AB0ACF-D217-4666-8678-B275E47E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39242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敏感场景升级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965282-68CC-44BE-8540-19FF4FD0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13048"/>
            <a:ext cx="309981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紧急故障、付款、合同等敏感问题进入人工复核，AI 不臆造业务事实。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14009CF-AEF4-4B95-A83A-80CEA1C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246120"/>
            <a:ext cx="352044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29DF5451-BC0F-4CD4-9A59-9925DFF2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46557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0E667BF-163D-4EBF-9D7B-144CA56C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39242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异步首响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E705D00-D63F-45A6-AE01-C12CACC6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3813048"/>
            <a:ext cx="309981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工单先落库返回 201，分类/检索/建议由后台任务补齐，避免迟到结果覆盖人工。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B6C1FCE-D4C2-48BE-A984-8C367FF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246120"/>
            <a:ext cx="3703320" cy="14630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97908EC-665A-4FC7-AC0A-42D2D076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346557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CAE8AC-F962-4871-9ED9-326C77EE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339242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转人工会话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4C1C9B9-E0EC-4AAE-AB02-3D52844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3813048"/>
            <a:ext cx="32826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说明：客服辅助 AI 使用独立模型策略，不完全受知识库约束；知识库依据作为推荐证据，由客服人工确认后发送。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461F50E-ABC1-4A47-A619-AC5E657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说明：</a:t>
            </a: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当前工单事件 Broker 为单进程 fan-out，按课程边界未引入 Redis Pub/Sub；多实例生产部署需接入消息总线。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E4997BB-E444-42FE-8F2D-79B0C09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E2B393F-FE0D-47D9-A54A-C064CB54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98262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8F25FF-9E6B-41F4-B628-4405F8E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B48B62-FF8F-41A6-8667-FBC559D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功能四 · 多智能体编排（LangGraph）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E5201F0-D3FB-4154-8257-5565190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F80CEDF-CC6E-47BB-A241-A6C4A42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41605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185C66-91A7-429F-B945-3B3FA034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73352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000" b="1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agent.py · 受控多智能体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77AE22-D5AF-467A-9025-B308098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29968"/>
            <a:ext cx="6345936" cy="3593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agent.py · 受控多智能体（LangGraph StateGraph）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ClassificationAgent: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意图分类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run(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question):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._classifier(question)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KnowledgeQueryAgent: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检索，与回复解耦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run(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db, question, top_k, ttl):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retrieve(db, question, top_k=top_k, ...)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ResponseAgent:      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有 / 无来源证据分支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._branch = RunnableBranch(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(</a:t>
            </a: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s: bool(s.get(</a:t>
            </a:r>
            <a:r>
              <a:rPr sz="115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"hits"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)), grounded_prompt),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cautious_prompt,        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无来源 -&gt; 说明限制并转人工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BusinessAgentOrchestrator:  </a:t>
            </a:r>
            <a:r>
              <a:rPr sz="115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分类-&gt;检索/工具-&gt;回复-&gt;质检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...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3C96C5-C713-4E8D-B20C-C93F901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544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实现要点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DB75B62-3134-434E-9933-680F7300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5960"/>
            <a:ext cx="41605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ClassificationAgent 意图分类 → KnowledgeQueryAgent 检索（与回复解耦）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ResponseAgent 用 RunnableBranch：有来源→证据提示；无来源→转人工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编排器：分类→检索/工具→回复→质检，受控任务分解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工具白名单 + 参数/枚举/大小校验，无任意函数执行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真实只读工具仅返回工单聚合，不暴露客户数据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缺 LangGraph 时回退等价本地顺序编排，保留离线可用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FF349C-1C07-41D4-B5CD-6D4B509C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C3E87D-F43E-4367-A9C2-FCA5600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3923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877CDF-060F-47C6-81C3-92AE100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590717-88A2-4122-97E8-A8ED3E0F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功能五 · Dify 低代码集成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344FA97-E53F-4CBA-B09A-80919617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CD817E8-DA76-4084-ADF0-E72D54F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17B4CE4-26F3-4971-8599-A9BCB1A2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8AF21F-0A4A-4386-A84B-F9E0BBD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知识库搭建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C6206BC-12DE-4646-8BDA-7C43D5C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管理员上传文档、配置分段与索引，重建后可在检索测试中验证引用。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5E7BD91-67B6-406E-ADDD-3AD14CB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3ED7516-5427-464F-9EDA-E6793E9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79CCA1-AD4D-4819-8AAC-1578B3F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智能客服工作流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5CE496-1BD5-42FF-9D2C-F181D4BA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6712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分类 → 独立客服辅助模型 → 模板与知识库依据 → 客服人工确认后发送。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3EFCEDF-4B5F-43A6-967C-F6E7B44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00200"/>
            <a:ext cx="370332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44C0415-AEEF-4DF2-8FBF-C357C5A9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F35DE0E-6403-4B04-AB56-FD26266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174650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TTS 文字转语音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D4875B-1308-4FB9-9B70-F721E0A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2167128"/>
            <a:ext cx="32826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外部 TTS HTTP 返回真实音频 URL，由前端下载并播放（真实媒体链路）。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84B4A1F-0D31-407E-B232-34439CD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FCAE88E-5709-4B43-9453-7D318A8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FE2ED8-9C41-4B8E-A874-9A2A5ABF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43814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文生图工具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FA8323A-276F-458C-B3FF-3E34CFD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5876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客服、系统管理员、经营管理者均可从独立入口提交提示词并展示真实图片。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2633092-648B-472B-A5AC-1094010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29184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313DC830-7277-47A4-930F-D53489D6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112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FE4BB2-1CB8-4CC2-8953-E8467BA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3814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统一网关 DifyGateway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2B29E66-1347-450D-ACC3-ACCA0920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385876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FastAPI 仅经 DifyGateway 调用工作流，前端不持有 Dify 密钥。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3AD2B3-171B-47CD-9A70-1AA0DB7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291840"/>
            <a:ext cx="370332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6334276A-1CD5-4960-ABC4-A2EEAAB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35112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A8ABCFB-BDE8-412A-9F8F-21F83BB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343814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优雅降级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8872E0-9F68-4F22-8C47-A06B36CC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3858768"/>
            <a:ext cx="32826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未配置、超时或失败时回退本地 RAG·Agent，并保留 citations 与 trace。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1FD64D-9D05-458C-A65F-9FF5472A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5AD175-5107-4548-B85E-D4E033C7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70560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C72132A-744C-46B6-88F6-11E1AA7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/ 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BE8798-65EF-4DFB-9775-AD006FE8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功能六 · 运营看板 &amp; 语音/偏好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4AADA75-66D5-444E-BC60-55478350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A014D18-D232-42F0-A95A-7C0EB6D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2044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8BDC07A-0153-419D-BCB1-4B116B0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BC1CD7-8EEE-487B-A718-A39C3B5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运营指标看板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CE21EE-4A29-457F-ABDA-5216FE1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309981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累计咨询量、待处理工单、AI 质检分、知识库文档数等核心指标可视化。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73FCD56-46B6-4A08-8E94-8F4844C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52044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53D74C9-6DBD-4849-B44E-78AA98D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3FE85B-A693-4F24-8979-88E52B4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分布与趋势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E12606-DF10-4208-90B4-B884838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67128"/>
            <a:ext cx="309981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问题分类分布、质检代理趋势、高频问题洞察；规则生成的 quality_score 不冒充实满意度。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34B2A9F-12C2-4D28-91C4-2423A447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00200"/>
            <a:ext cx="370332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181F453-BE93-437D-B5F4-1BF0961B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822175-B7EF-4115-BA70-7E2E6EC3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174650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智能分析报告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A9128F-2D01-4F9C-A94B-6E07A9FD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2167128"/>
            <a:ext cx="328269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管理员/决策者可一键生成含未闭环与高优先级工单的简要分析报告。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AE9D8EE-C50D-49C9-A667-A7AF13B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352044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DF99A83-5F2B-4CB2-A563-CE5DE01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05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7726A1B-8705-4771-9A03-D0BCCF45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032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语音交互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A6316B5-D1D4-48C0-AC61-BE0E5EE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53128"/>
            <a:ext cx="309981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前端基于 Web Speech API 的语音输入与朗读；不支持时退回完整文本流程。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71F55FA-2C4B-4ACD-BE0E-B917292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886200"/>
            <a:ext cx="352044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60037CEE-03A3-4533-A541-FB6A6A3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4105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74770E-8BFF-4AA9-97B8-9B18310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032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用户偏好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8563FA-6400-4F04-AD93-B99517C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4453128"/>
            <a:ext cx="309981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每用户独立保存回答风格/语言/自动朗读；偏好仅影响表达，不放宽事实与权限。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86D8D74-A1F7-444B-AF03-03600CD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886200"/>
            <a:ext cx="3703320" cy="2103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6DDB5F4-4005-4DE2-BFA2-8110EDE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7" y="4105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6BF8C32-42F3-4DBD-91DC-52497260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3" y="4032504"/>
            <a:ext cx="3136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结果缓存隔离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1FD0CEE-4BD9-4004-B29F-BB5E70F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5" y="4453128"/>
            <a:ext cx="328269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缓存键覆盖用户/上下文/知识版本/偏好等，命中明确标记 origin=cache，不冒充 Token 流。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EC1A906-3ED3-4459-9417-228B7AF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3C7397-5200-4A4A-8E89-28188D6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76030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8B6300-A91D-48D6-9206-FD35E95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CE7787-CF68-4B24-B48B-4D15B4D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9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A637AD-7853-4890-A758-419E8933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3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工程亮点与验收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2256D9D-C841-461B-9B3E-230B6C59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9312"/>
            <a:ext cx="1097280" cy="731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3E90BC-332D-405D-AA37-066CE4F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0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安全保障 · 一键启动 · 测试验收基线</a:t>
            </a:r>
          </a:p>
        </p:txBody>
      </p:sp>
    </p:spTree>
    <p:extLst>
      <p:ext uri="{BB962C8B-B14F-4D97-AF65-F5344CB8AC3E}">
        <p14:creationId xmlns:p14="http://schemas.microsoft.com/office/powerpoint/2010/main" val="993725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BD6BE1-88A6-4C67-8B8F-39C112F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 / 工程亮点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A1ED4-7862-4015-A68C-5B6DEE2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工程亮点与安全保障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AFDEE5E-31EC-48EF-91AC-4730E75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1BCF7F8-D9C4-4E9E-A70D-B9C6A2C3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2BE1338-C24F-4F8F-B35C-6B54D3C1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4AECEA-7C7A-4580-ABF1-B566346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离线优先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A74BBC-818F-42BF-8B96-9DD19B1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核心课堂演示不依赖云端密钥或网络，本地 RAG/Agent 可离线运行。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B88E600-D905-416C-BC3C-7CD2DCDB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8B62A4A-9756-41F5-9679-15AB2A5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2164B1-A57B-4137-A1C5-23AA6AF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证据可见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8CF073-F4D0-469A-A653-57C2425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671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每次回答回传引用、Agent 轨迹与降级状态，AI 决策可解释。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71BF633-36C6-4816-B8F7-E388794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EA1B7C-EB04-4C34-BF62-A4BAEFD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2C8E4D-F8C1-4F35-AEBD-189BD9E9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人工兜底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A3C1E87-D171-423E-AE5D-2A7363B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1671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高风险商务问题不自动承诺，工单最终答复由客服确认。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1E3DAE1-9E50-4FBC-8F5B-0C480BB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FBE0463-7D53-4500-B862-FAA872D8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198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984ADE0-5AE2-4101-87AD-1700BBF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3467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工具只读白名单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4B0881C-458C-4C63-BD9E-1BA1A219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673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精确工具名 + 参数/枚举/大小校验，真实工具仅返回工单聚合。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1E93CD3-5191-4C86-AE33-56807D4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004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3CA8D701-0EFE-457A-9B1A-23F66A5D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4198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B6FFA3B-A3FB-4ACA-BC41-9F96952A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3467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异常可回退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058C2F7-6871-4388-8FFD-77E4FEF0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7673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首 token 前 fallback、部分 token 后 reset，保证界面与库一致。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10F67AC-23B1-43C1-B051-827CABCE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00400"/>
            <a:ext cx="352044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EB3F83E-DAD9-4AD7-AE3C-2EABF362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4198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D9DA4D1-E3AA-49B3-9BA9-15925E1A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3467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缓存隔离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5C22026-B35A-4081-9648-E845AFE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767328"/>
            <a:ext cx="30998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键覆盖上下文与偏好，Redis 不可用时回退有界内存 TTL 缓存。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63D4A19-E994-4605-A55B-4EE1EB67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安全边界：</a:t>
            </a: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密钥仅存本机 .env 不入库；受保护接口用 Token；管理员接口做角色校验；越权返回 401/403。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2C2923B-209A-41C9-93E9-77FA733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93B7E04-55A6-428E-9817-BE4929EB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3283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B2968E-96AC-4355-8C46-0855DC4C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 / 工程亮点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3C878B-39BE-4C03-BD81-AB3CD01F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演示路径与一键启动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99FC53A-23A8-4EDA-9136-2E8F36D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09799F6-8B51-4A31-9ABE-B410054D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24688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36C7DD-BAC8-43F8-A53A-CBED376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73352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000" b="1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bash · Docker Compose 一键启动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92EE38-1298-408C-B6AA-E1E9517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29968"/>
            <a:ext cx="6345936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2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复制环境变量并启动课程应用（前端/后端/Redis）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2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Copy-Item .env.example .env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2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docker compose up --build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200">
                <a:solidFill>
                  <a:srgbClr val="7D8590"/>
                </a:solidFill>
                <a:latin typeface="Consolas"/>
                <a:ea typeface="Consolas"/>
                <a:cs typeface="Consolas"/>
              </a:rPr>
              <a:t># 如需纳入官方 Dify 环境（隔离编排）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100"/>
              </a:spcAft>
              <a:buNone/>
            </a:pPr>
            <a:r>
              <a:rPr sz="12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powershell -File scripts\stack.ps1 -Action up -WithDify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A1B1730-BFCD-49B9-B089-7BAE8DB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544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访问入口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567437-C33E-4D77-8B84-CEC4EC17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5960"/>
            <a:ext cx="4160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前端：http://localhost:5173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API 文档：http://localhost:8000/docs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健康检查：/api/v1/health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· 演示账号（密码 Demo123!）：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 enterprise@ / support@ /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   admin@ / executive@neusoft.local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1F6EDF1-4D43-4960-BC00-8EEB4343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11064240" cy="17373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2911CF22-5F67-49CF-AAD5-40F72587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171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FF88C25-967C-475B-89DB-3794992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443984"/>
            <a:ext cx="104973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演示顺序建议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3F90206-0BF0-410F-AF1E-32F7F303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64608"/>
            <a:ext cx="10643616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登录企业用户 → 知识库问答（查看引用）→ 转人工并结束会话 → 提交满意度评价 → 客服长列表接收并回复 → 管理员上传文档/调整索引 → 三类管理角色使用文生图 → 决策者查看运营看板。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未配置模型密钥时，系统走本地 RAG/Agent 回退并明确标记 used_fallback。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296DF6-6EBC-4299-9D0A-BECB88F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A15D00-EBC4-4FCA-A038-73C47156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504609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67F629-73A4-470C-9BE1-E04E520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 / 工程亮点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EF0BC15-2B5B-4766-8668-C75CFEA0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测试与验收基线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EE8F72F-FBC9-46B7-B293-475CD1F7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2F35D0A-BBD2-424A-890D-753CEA5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56E1854-9021-4833-99B1-BD99592D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CCA0FE-39EE-493C-ABB6-72E5EA38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后端测试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E01B78-EC0D-4BF2-98EB-7D245EC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6712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106 passed（含反馈、工单状态/归属、AI 转人工回归）；Dify 结构与媒体门禁 21 passed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CD6BF3D-2DA9-444B-9020-DE9B5F8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FFC8474-FFFC-4AD5-97F8-F0473FE3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69C367-05BB-4608-8E66-57107C5D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离线评测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A6B3A8-47DE-4206-B154-DDC69A06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6712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12/12 全阈值通过：分类 100% · Top-3 检索 100% · 引用 100% · 安全转人工 100%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A638704-D35F-4EB9-A4D3-8309DC7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D2155ABB-0A78-4957-A35C-1450EAA5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81965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3B29BE6-A52D-4F3F-9B67-F5CC6571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74650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前端构建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A3692F-2D23-48E4-A91E-A10DACB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16712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pnpm build 转换 1829 模块，非 root 镜像以 UID 101 健康运行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4F14198-1840-4FCB-9020-77437BC0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AAB9F56-EA5C-46E4-9258-A4F1A7D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57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4EA5E7B-D92E-481A-B816-D2AC75B5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48386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容器运行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D366113-AD99-484A-A0B5-FADE314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0448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backend / frontend / Redis healthy；Dify Web/API 200；知识库召回、客服/TTS/文生图真实媒体通过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F89076C-AA35-4AE4-A3C7-B9709A7D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3756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5B1A154D-B1D1-4525-A4FE-B5E7043E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57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7B0D28-8981-4B97-AB4D-765080AF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48386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链路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8EA600E-556C-4B53-980F-C85D64C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90448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课程 smoke 返回 3 条引用且 used_fallback=false；满意度统计覆盖真实用户评价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5EB8FD6-CCFD-42EF-9EF0-3BAB3A6D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37560"/>
            <a:ext cx="352044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D6DA277-75E7-43DD-8BB3-DFB6AC68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557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A90CEDE-8CD0-4C14-847E-904351C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483864"/>
            <a:ext cx="2953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部署配置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5A0522F-4A57-4390-B3AE-60E61D26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904488"/>
            <a:ext cx="3099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K8s 清单、Compose、Kustomize 渲染与 CI 流程通过（K8s/Release 为可部署配置，非已上线证据）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690B6A4-511D-472E-83CB-60C55DB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BC3343A-CD57-4084-AF7B-ACD68B1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301734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E73F7F8-B3BC-49FC-BF11-F9AC1AD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218F0B-D524-4576-A75A-226C0E29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9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D6D33F-23CF-4A5F-867C-E8360569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34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0733A10-DF0C-44E7-8FF6-028881DE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9312"/>
            <a:ext cx="1097280" cy="731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B3DF6C-0058-4DA3-B16E-9D8FCE5B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0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实训收获 · 演进路线与展望</a:t>
            </a:r>
          </a:p>
        </p:txBody>
      </p:sp>
    </p:spTree>
    <p:extLst>
      <p:ext uri="{BB962C8B-B14F-4D97-AF65-F5344CB8AC3E}">
        <p14:creationId xmlns:p14="http://schemas.microsoft.com/office/powerpoint/2010/main" val="6315572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342C44-07F3-474A-B7DA-C51809E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05 / 总结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137A83-3CA3-49A7-835A-12F1204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项目总结与实训收获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2117C04-BC8B-4663-BA44-8A1D105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04447A-E4F9-41CD-B53A-FA67F3A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对照实训考核八项，项目已形成可运行、可讲解、可验证的完整交付：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C2A68FF-7E04-4DBF-9CF9-0E0C72C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F47285-F584-4A31-A962-3FDB6203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2140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需求与架构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215E79-065B-4DCC-B1D8-254BD47E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1460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规范需求文档 + 前后端分离架构 + AI 服务编排策略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DA0D440-3929-4446-BE3C-B7A4B29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01168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7DE614C-0437-438B-BB75-A82C266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140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02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功能完整性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388865-835C-4416-B261-99BD913D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1460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对话/知识库/工单/语音/满意度 + 客服多会话与 AI 辅助全链路打通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30D5C04-893C-4A97-91DD-CF7A68E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9DB13E-BB2F-4B7B-A14F-CCD0A4D6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2140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03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代码规范性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AAA9D94-9C3D-4C5C-B38D-7847351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51460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Python 类型标注、API 设计规范、结构清晰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599C1EB-E738-4B96-A724-2D24EEA0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519E44-DB36-43AA-83F6-5CA469D9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728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04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运行稳定性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25DD407-33D5-4FCB-902E-C1C20B5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4048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离线回退、取消一致、异常 fallback/reset 容错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48F7368-8F23-42CF-A168-0288D43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3756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F2F73AA-FACF-47CC-9E0D-BC61C4F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44728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05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团队协作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63791F-3BA8-42C6-9CE8-5A1C87A9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84048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角色分工、迭代节奏、协作规范明确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D6B1FF6-6BD8-4A67-99C8-A215E13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3756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9DF2338-810C-462F-B54F-27916432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44728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06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智能体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C12E91-DB17-49F1-8D9F-2DC12F0F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84048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LangChain/LangGraph + RAG + Function Calling + Dify + 独立文生图入口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8C1F1A8-61EB-4BD0-9A9E-7E8D06E0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DFCE074-7B0F-4628-9322-0ED15FDC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7316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07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全栈部署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6A6CDF3-4D5B-4648-BD55-F11FA0CE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6636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Vue3 + FastAPI + Docker/Compose + DevOps 流水线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88C2B24-AFBF-41F8-BDB4-F764636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663440"/>
            <a:ext cx="352044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DE902CF-EE11-4C66-AAE4-710151F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77316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08  </a:t>
            </a:r>
            <a:r>
              <a:rPr sz="135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AI 辅助开发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FC6A93C-06D7-4F14-B8BB-8AD3615F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66360"/>
            <a:ext cx="31363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提示词精准、全量审核、优化显著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EC9924F-0660-4C29-9AFC-E673AAA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D61DECB-11C2-43B6-97B7-CAC56D7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403770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415594-83A1-4091-80EF-F8C10D9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2F6BFF"/>
                </a:solidFill>
                <a:latin typeface="微软雅黑"/>
                <a:ea typeface="微软雅黑"/>
                <a:cs typeface="微软雅黑"/>
              </a:rPr>
              <a:t>05 / 总结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A0B8F-2709-4129-9F9E-9600D44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2700" b="1">
                <a:solidFill>
                  <a:srgbClr val="0B1B2B"/>
                </a:solidFill>
                <a:latin typeface="微软雅黑"/>
                <a:ea typeface="微软雅黑"/>
                <a:cs typeface="微软雅黑"/>
              </a:rPr>
              <a:t>演进路线与展望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B1511AE-470F-4E1D-9CE7-36DEF84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0584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A1598A-7535-489A-9854-EC2441C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E015E1-1916-40D4-A626-6820CA4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5564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SQLite 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3E27E5-E80A-4FB1-9BEC-B10DFAB1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48840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PostgreSQL + 迁移管理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88620A6-6E07-4D27-B16C-0DB9007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45920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9EFFD5-1095-45ED-B3A0-989CD91F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75564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本地 Embedding →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349AD2F-8748-4B57-AA53-900D4670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48840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Chroma / 托管向量库 / 受控云端 Embedding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7812D24-62CE-4AE4-B89C-9C5EFB5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32ACB8-A345-44BD-9449-4B0EDD7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55648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摘要记忆 →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733E343-1AAD-42CE-9F31-D039D20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48840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生成式摘要 + 漂移/成本/隐私评测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5EC5FC1-E0B8-44A5-AD7C-47237CA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62072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BA6957-5CF9-4FEE-9F0F-5DBB578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718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单进程 Broker 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D915C6-4AA6-4D0D-880E-87886BB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64992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Redis Pub/Sub 多 Worker/多 Pod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9FA0462-B818-4D1D-82C8-19AFF568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862072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A2C6F05-B6B6-4E28-8CB2-AF7DCD2B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9718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只读工具 →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7F96DC-F61E-4598-AC1D-8899314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64992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最小权限视图 + 字段脱敏 + 审计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7ABA865-DE40-464E-8F70-1BC53177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862072"/>
            <a:ext cx="35204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700">
            <a:solidFill>
              <a:srgbClr val="C9D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EF7CF2A-08A2-447B-8894-771FEDA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9718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单实例 Compose →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3DFA21F-D431-4254-A480-8D2D4D8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364992"/>
            <a:ext cx="3136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PostgreSQL / HPA / 监控 / 渐进发布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E8FF35E-7BD3-4291-A71B-9332805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64240" cy="1005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1B2B"/>
          </a:solidFill>
          <a:ln xmlns:a="http://schemas.openxmlformats.org/drawingml/2006/main" w="12700">
            <a:solidFill>
              <a:srgbClr val="0B1B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055075-AEB3-4AD1-B3DF-1DA21D02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 · 敬请批评指正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9DB2C9"/>
                </a:solidFill>
                <a:latin typeface="微软雅黑"/>
                <a:ea typeface="微软雅黑"/>
                <a:cs typeface="微软雅黑"/>
              </a:rPr>
              <a:t>本项目为教学演示，生产环境应改用托管数据库、密钥管理、审计与监控服务。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0B02A3-FDFE-4F1D-9057-70EB05B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东软智慧商务 AI 助手平台  ·  项目汇报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3DB4BAC-55D4-4B55-B2AC-10060F93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5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06209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2026-07-20T08:20:51.7110000Z</dcterms:created>
  <dcterms:modified xsi:type="dcterms:W3CDTF">2026-07-20T08:20:51.7110000Z</dcterms:modified>
</coreProperties>
</file>